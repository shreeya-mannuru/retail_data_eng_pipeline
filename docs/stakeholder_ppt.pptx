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56032" cy="5088636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743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 Pipeline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697480"/>
            <a:ext cx="3200400" cy="36576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SQLite  ·  SQL NTILE(5)  ·  Power BI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Shreeya Mannuru  |  2025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92240" y="914400"/>
            <a:ext cx="2286000" cy="3200400"/>
          </a:xfrm>
          <a:prstGeom prst="rect">
            <a:avLst/>
          </a:prstGeom>
          <a:solidFill>
            <a:srgbClr val="2E3F8F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280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30175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₹10.04L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Approach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402336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business has transaction data spread across products, users, and cart records — but no visibility into which customers drive the most value.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segmentation, every customer is treated the same — wasting marketing spend on low-value customers while under-investing in high-value ones.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77724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777240"/>
            <a:ext cx="4023360" cy="54864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 — RFM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3258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How recently did the customer purchase?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How many times did they purchase?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How much did they spend in total?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dimension scored 1–5 using SQL NTILE(5) window function. Combined into an RFM score → 4 customer segments.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1188720" cy="960120"/>
          </a:xfrm>
          <a:prstGeom prst="rect">
            <a:avLst/>
          </a:prstGeom>
          <a:solidFill>
            <a:srgbClr val="7EC8E3"/>
          </a:solidFill>
          <a:ln w="9525">
            <a:solidFill>
              <a:srgbClr val="7EC8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536192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21214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90472" y="1943100"/>
            <a:ext cx="146304" cy="0"/>
          </a:xfrm>
          <a:prstGeom prst="line">
            <a:avLst/>
          </a:prstGeom>
          <a:noFill/>
          <a:ln w="19050">
            <a:solidFill>
              <a:srgbClr val="7EC8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4208" y="1463040"/>
            <a:ext cx="1188720" cy="960120"/>
          </a:xfrm>
          <a:prstGeom prst="rect">
            <a:avLst/>
          </a:prstGeom>
          <a:solidFill>
            <a:srgbClr val="2E3F8F"/>
          </a:solidFill>
          <a:ln w="9525">
            <a:solidFill>
              <a:srgbClr val="7EC8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64208" y="1536192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64208" y="21214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JSON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80360" y="1943100"/>
            <a:ext cx="146304" cy="0"/>
          </a:xfrm>
          <a:prstGeom prst="line">
            <a:avLst/>
          </a:prstGeom>
          <a:noFill/>
          <a:ln w="19050">
            <a:solidFill>
              <a:srgbClr val="7EC8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54096" y="1463040"/>
            <a:ext cx="1188720" cy="960120"/>
          </a:xfrm>
          <a:prstGeom prst="rect">
            <a:avLst/>
          </a:prstGeom>
          <a:solidFill>
            <a:srgbClr val="2E3F8F"/>
          </a:solidFill>
          <a:ln w="9525">
            <a:solidFill>
              <a:srgbClr val="7EC8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54096" y="1536192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54096" y="21214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clean CSVs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70248" y="1943100"/>
            <a:ext cx="146304" cy="0"/>
          </a:xfrm>
          <a:prstGeom prst="line">
            <a:avLst/>
          </a:prstGeom>
          <a:noFill/>
          <a:ln w="19050">
            <a:solidFill>
              <a:srgbClr val="7EC8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43984" y="1463040"/>
            <a:ext cx="1188720" cy="960120"/>
          </a:xfrm>
          <a:prstGeom prst="rect">
            <a:avLst/>
          </a:prstGeom>
          <a:solidFill>
            <a:srgbClr val="2E3F8F"/>
          </a:solidFill>
          <a:ln w="9525">
            <a:solidFill>
              <a:srgbClr val="7EC8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3984" y="1536192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43984" y="21214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retail_pipeline.db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0136" y="1943100"/>
            <a:ext cx="146304" cy="0"/>
          </a:xfrm>
          <a:prstGeom prst="line">
            <a:avLst/>
          </a:prstGeom>
          <a:noFill/>
          <a:ln w="19050">
            <a:solidFill>
              <a:srgbClr val="7EC8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33872" y="1463040"/>
            <a:ext cx="1188720" cy="960120"/>
          </a:xfrm>
          <a:prstGeom prst="rect">
            <a:avLst/>
          </a:prstGeom>
          <a:solidFill>
            <a:srgbClr val="2E3F8F"/>
          </a:solidFill>
          <a:ln w="9525">
            <a:solidFill>
              <a:srgbClr val="7EC8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1536192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EDA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33872" y="21214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+ charts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50024" y="1943100"/>
            <a:ext cx="146304" cy="0"/>
          </a:xfrm>
          <a:prstGeom prst="line">
            <a:avLst/>
          </a:prstGeom>
          <a:noFill/>
          <a:ln w="19050">
            <a:solidFill>
              <a:srgbClr val="7EC8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1463040"/>
            <a:ext cx="1188720" cy="960120"/>
          </a:xfrm>
          <a:prstGeom prst="rect">
            <a:avLst/>
          </a:prstGeom>
          <a:solidFill>
            <a:srgbClr val="7EC8E3"/>
          </a:solidFill>
          <a:ln w="9525">
            <a:solidFill>
              <a:srgbClr val="7EC8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1536192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21214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output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3090672"/>
            <a:ext cx="1152144" cy="347472"/>
          </a:xfrm>
          <a:prstGeom prst="rect">
            <a:avLst/>
          </a:prstGeom>
          <a:solidFill>
            <a:srgbClr val="2E3F8F"/>
          </a:solidFill>
          <a:ln w="6350">
            <a:solidFill>
              <a:srgbClr val="7EC8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090672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517904" y="3090672"/>
            <a:ext cx="1152144" cy="347472"/>
          </a:xfrm>
          <a:prstGeom prst="rect">
            <a:avLst/>
          </a:prstGeom>
          <a:solidFill>
            <a:srgbClr val="2E3F8F"/>
          </a:solidFill>
          <a:ln w="6350">
            <a:solidFill>
              <a:srgbClr val="7EC8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17904" y="3090672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61488" y="3090672"/>
            <a:ext cx="1152144" cy="347472"/>
          </a:xfrm>
          <a:prstGeom prst="rect">
            <a:avLst/>
          </a:prstGeom>
          <a:solidFill>
            <a:srgbClr val="2E3F8F"/>
          </a:solidFill>
          <a:ln w="6350">
            <a:solidFill>
              <a:srgbClr val="7EC8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61488" y="3090672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005072" y="3090672"/>
            <a:ext cx="1152144" cy="347472"/>
          </a:xfrm>
          <a:prstGeom prst="rect">
            <a:avLst/>
          </a:prstGeom>
          <a:solidFill>
            <a:srgbClr val="2E3F8F"/>
          </a:solidFill>
          <a:ln w="6350">
            <a:solidFill>
              <a:srgbClr val="7EC8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05072" y="3090672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48656" y="3090672"/>
            <a:ext cx="1152144" cy="347472"/>
          </a:xfrm>
          <a:prstGeom prst="rect">
            <a:avLst/>
          </a:prstGeom>
          <a:solidFill>
            <a:srgbClr val="2E3F8F"/>
          </a:solidFill>
          <a:ln w="6350">
            <a:solidFill>
              <a:srgbClr val="7EC8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48656" y="3090672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CTEs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92240" y="3090672"/>
            <a:ext cx="1152144" cy="347472"/>
          </a:xfrm>
          <a:prstGeom prst="rect">
            <a:avLst/>
          </a:prstGeom>
          <a:solidFill>
            <a:srgbClr val="2E3F8F"/>
          </a:solidFill>
          <a:ln w="6350">
            <a:solidFill>
              <a:srgbClr val="7EC8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3090672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NTILE(5)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735824" y="3090672"/>
            <a:ext cx="1152144" cy="347472"/>
          </a:xfrm>
          <a:prstGeom prst="rect">
            <a:avLst/>
          </a:prstGeom>
          <a:solidFill>
            <a:srgbClr val="2E3F8F"/>
          </a:solidFill>
          <a:ln w="6350">
            <a:solidFill>
              <a:srgbClr val="7EC8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35824" y="3090672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4320" y="37033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products  ·  100 users  ·  50 carts  →  198 line items after flattening nested JSON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8691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See: scripts/extract.py  ·  scripts/transform.py  ·  scripts/load.py  ·  sql/rfm_queries.sql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 Results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196596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417320" cy="27432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6060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₹7,43,122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" y="30175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1600200" cy="347472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8328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~74% of revenue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41448" y="685800"/>
            <a:ext cx="1965960" cy="3474720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41448" y="822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15768" y="1234440"/>
            <a:ext cx="141732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41448" y="13716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2441448" y="21945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41448" y="26060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₹1,68,798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441448" y="30175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24328" y="3383280"/>
            <a:ext cx="1600200" cy="347472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24328" y="338328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~17% of revenue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08576" y="685800"/>
            <a:ext cx="1965960" cy="3474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08576" y="822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82896" y="1234440"/>
            <a:ext cx="1417320" cy="27432"/>
          </a:xfrm>
          <a:prstGeom prst="rect">
            <a:avLst/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08576" y="13716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5600" dirty="0"/>
          </a:p>
        </p:txBody>
      </p:sp>
      <p:sp>
        <p:nvSpPr>
          <p:cNvPr id="26" name="Text 24"/>
          <p:cNvSpPr/>
          <p:nvPr/>
        </p:nvSpPr>
        <p:spPr>
          <a:xfrm>
            <a:off x="4608576" y="21945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08576" y="26060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₹89,876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08576" y="30175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91456" y="3383280"/>
            <a:ext cx="1600200" cy="347472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338328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~9% of revenue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75704" y="685800"/>
            <a:ext cx="1965960" cy="3474720"/>
          </a:xfrm>
          <a:prstGeom prst="rect">
            <a:avLst/>
          </a:prstGeom>
          <a:solidFill>
            <a:srgbClr val="787878"/>
          </a:solidFill>
          <a:ln w="12700">
            <a:solidFill>
              <a:srgbClr val="7878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75704" y="822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050024" y="1234440"/>
            <a:ext cx="1417320" cy="2743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75704" y="13716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600" dirty="0"/>
          </a:p>
        </p:txBody>
      </p:sp>
      <p:sp>
        <p:nvSpPr>
          <p:cNvPr id="35" name="Text 33"/>
          <p:cNvSpPr/>
          <p:nvPr/>
        </p:nvSpPr>
        <p:spPr>
          <a:xfrm>
            <a:off x="6775704" y="21945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75704" y="26060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₹2,472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775704" y="30175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58584" y="3383280"/>
            <a:ext cx="1600200" cy="347472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78787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58584" y="338328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 of revenue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434840"/>
            <a:ext cx="859536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4348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Champions = 15% of customers but ~74% of revenue — a classic Pareto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13232"/>
            <a:ext cx="64008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8638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80467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Champions at all costs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70432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customers generate 74% of revenue. Losing even 2–3 would have a material revenue impact. Retention programmes — loyalty rewards, early access, referral incentives — should target this segment first.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03120"/>
            <a:ext cx="64008" cy="1234440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762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is the biggest opportunity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560320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of the customer base (21 customers) is disengaging. A structured win-back campaign with time-limited offers — even a 30% recovery rate — could meaningfully shift revenue distribution.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493008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93008"/>
            <a:ext cx="64008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66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358444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 are promotable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950208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customers are close to Champion-tier. Personalised upsell or cross-sell nudges — product bundles, 'just for you' offers — are more efficient than cold acquisition.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Production Roadmap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3931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685800"/>
            <a:ext cx="39319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dates — recency uses max_cart_id as a proxy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013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dataset — 45 customers is too small for statistical robustness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6829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single user, no concurrency, not production-scale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93522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time snapshot — no trend or cohort comparison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5021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returns or refund data in monetary scoring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685800"/>
            <a:ext cx="4251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685800"/>
            <a:ext cx="4251960" cy="54864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804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Roadmap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23444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transaction dates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recency proxy with timestamp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353312"/>
            <a:ext cx="54864" cy="256032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80136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BigQuery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Multi-user, scalable data warehouse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920240"/>
            <a:ext cx="54864" cy="256032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368296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Scheduled, orchestrated pipeline runs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487168"/>
            <a:ext cx="54864" cy="256032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935224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/ streaming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ingestion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054096"/>
            <a:ext cx="54864" cy="256032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5021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auto-refreshing dashboards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621024"/>
            <a:ext cx="54864" cy="256032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229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0" y="1874520"/>
            <a:ext cx="2743200" cy="36576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Data Engineering Pipeline with RFM Customer Segmentation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651760"/>
            <a:ext cx="1554480" cy="1188720"/>
          </a:xfrm>
          <a:prstGeom prst="rect">
            <a:avLst/>
          </a:prstGeom>
          <a:solidFill>
            <a:srgbClr val="2E3F8F"/>
          </a:solidFill>
          <a:ln w="9525">
            <a:solidFill>
              <a:srgbClr val="7EC8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9748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05840" y="34015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2651760"/>
            <a:ext cx="1554480" cy="1188720"/>
          </a:xfrm>
          <a:prstGeom prst="rect">
            <a:avLst/>
          </a:prstGeom>
          <a:solidFill>
            <a:srgbClr val="2E3F8F"/>
          </a:solidFill>
          <a:ln w="9525">
            <a:solidFill>
              <a:srgbClr val="7EC8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69748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834640" y="34015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651760"/>
            <a:ext cx="1554480" cy="1188720"/>
          </a:xfrm>
          <a:prstGeom prst="rect">
            <a:avLst/>
          </a:prstGeom>
          <a:solidFill>
            <a:srgbClr val="2E3F8F"/>
          </a:solidFill>
          <a:ln w="9525">
            <a:solidFill>
              <a:srgbClr val="7EC8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69748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₹10L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63440" y="34015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2651760"/>
            <a:ext cx="1554480" cy="1188720"/>
          </a:xfrm>
          <a:prstGeom prst="rect">
            <a:avLst/>
          </a:prstGeom>
          <a:solidFill>
            <a:srgbClr val="2E3F8F"/>
          </a:solidFill>
          <a:ln w="9525">
            <a:solidFill>
              <a:srgbClr val="7EC8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69748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92240" y="34015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charts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github.com/Shreeya-Mannuru/retail_data_eng_pipeline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526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Shreeya Mannuru  |  B.E. CSE, Rajalakshmi Engineering College  |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Customer Segmentation — Data Engineering Pipeline</dc:title>
  <dc:subject>PptxGenJS Presentation</dc:subject>
  <dc:creator>Shreeya Mannuru</dc:creator>
  <cp:lastModifiedBy>Shreeya Mannuru</cp:lastModifiedBy>
  <cp:revision>1</cp:revision>
  <dcterms:created xsi:type="dcterms:W3CDTF">2026-04-10T14:32:15Z</dcterms:created>
  <dcterms:modified xsi:type="dcterms:W3CDTF">2026-04-10T14:32:15Z</dcterms:modified>
</cp:coreProperties>
</file>